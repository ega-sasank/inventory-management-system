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ank ega" userId="80ea069dd78ce476" providerId="LiveId" clId="{31668483-3850-4725-B142-48E2D6AE5D98}"/>
    <pc:docChg chg="undo custSel modSld">
      <pc:chgData name="sasank ega" userId="80ea069dd78ce476" providerId="LiveId" clId="{31668483-3850-4725-B142-48E2D6AE5D98}" dt="2026-03-03T13:03:31.537" v="28" actId="20577"/>
      <pc:docMkLst>
        <pc:docMk/>
      </pc:docMkLst>
      <pc:sldChg chg="modSp mod">
        <pc:chgData name="sasank ega" userId="80ea069dd78ce476" providerId="LiveId" clId="{31668483-3850-4725-B142-48E2D6AE5D98}" dt="2026-03-03T13:03:31.537" v="28" actId="20577"/>
        <pc:sldMkLst>
          <pc:docMk/>
          <pc:sldMk cId="984828231" sldId="260"/>
        </pc:sldMkLst>
        <pc:spChg chg="mod">
          <ac:chgData name="sasank ega" userId="80ea069dd78ce476" providerId="LiveId" clId="{31668483-3850-4725-B142-48E2D6AE5D98}" dt="2026-03-03T13:03:31.537" v="28" actId="20577"/>
          <ac:spMkLst>
            <pc:docMk/>
            <pc:sldMk cId="984828231" sldId="260"/>
            <ac:spMk id="2" creationId="{B6CD56EA-B1A7-9163-1720-7D3A08E810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490A-1CCE-4A55-E51B-D434B1D6E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5F100-C135-BFD4-8D65-CFFC10090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1D360-E5A0-132D-BEC2-0905508D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F0424-9895-E63F-D57F-8595D8D6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1EBA4-C525-AC65-A388-46BBEBA7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90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E333-9C77-7D0F-D2B6-8F4D942B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6EE3D-BD23-AD65-A324-1FC2218E6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8E5C6-2E03-0051-AB99-70592652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B8AAC-071C-0AF3-1C02-02631859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38006-7DAA-DACB-4581-9BB1F226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393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5B0B-7A84-B88A-A0B8-C9C53F6F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488F3-F8A2-D943-0D2E-26F7D05AB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927F-DFA4-D8DF-A17B-53666031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D46A4-3AA8-E512-EFF8-B327E8F4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B0741-BC05-CBD6-09F8-606A0155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60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9218-158C-2361-3D6C-102554A6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8FF6C-01EC-7A36-43F1-2660E415D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D7241-6B3A-DF5E-69D7-6A5F33E35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7743B-F9E1-9AC5-6754-3F90470E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6C4D4-70D4-734E-F43A-5A9CE2A6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FFDF8-846A-A33D-8F05-155AB1C9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89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CEC5-5723-532E-CF3F-DD3FC6A9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67BA9-B0D7-1AE8-99A0-9E131816F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EC7CE-4B2F-2E53-3DCB-70829E44C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AF9F9-0D71-BE58-8EF3-62DA16FFA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128A20-5B0E-276B-00CD-60FDE0367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FB2C2-147C-C51A-47FE-2686C4CB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AA61F-EF5A-A538-D289-B66C5C36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A69C2-88AF-7376-7268-27DC3DA2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8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923F-DDA5-6AE0-DD11-25F4E4A8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50210-DB3D-C71B-E835-8AD5EBB6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FE597-5925-A23B-8803-C0364D9B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6B703-BF4F-6F87-FE3D-4784AE4A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22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14CD6-9405-07D5-A7A5-717448E2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A56DA-6521-C5E4-B68E-1CE64079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4D0BB-538F-1B5B-52FB-36E3228C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62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9975F-7CAF-2BC5-B3A1-6498CDFE4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E459-DB34-2F8C-A1DC-7DD4B810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9501B-9BF8-DDF6-D459-3EB729BE8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0EF2-4A8F-6B42-CF69-49D5FB80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15B70-5743-9EDC-167F-9929DD1B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B2E04-5E53-7101-4D71-5B115D00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5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68BF-EF1D-99C0-C0DC-7DFFABFB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5D79E-368F-E58B-4E11-1219B8F77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35290-6C0C-80E9-41E5-3736B4F52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AE721-E70C-9CB1-CFC9-6D393D88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92C8D-7D62-2A8C-2D51-810DA75C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95017-F04A-D5DD-E07F-62466BC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66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135D-BA0F-F465-F93B-B4B104D5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45C9F-14EA-15C1-06A2-1DC548C90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CBBB7-15C3-763A-0692-0E9A90DE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770B0-BF55-DA3A-8C98-29E9F209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926F6-8F7B-C4B0-A67C-829F3984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99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CAEFDB-D786-D25E-DF37-17981132F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E22CB-79FB-E55D-719B-648C74E5A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38519-3E4E-C37B-F446-D7272889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BD76A-C389-DFF2-03DF-552404A61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EF4DE-042D-274F-3BAE-CB710304E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6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BE355-E63B-B5F8-57B3-E60B4639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7C44-3253-4E7E-A437-82582CCC6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7E482-349A-AB17-BAF9-BB6BA5ED3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64B99-6933-479A-9DE2-4F5A421BC7C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ED31E-388F-69D9-675B-28D8629DE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7C045-20B4-B81A-4AE0-A67935124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90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BF4194-28F8-DFB5-F2E4-59216F708C35}"/>
              </a:ext>
            </a:extLst>
          </p:cNvPr>
          <p:cNvSpPr txBox="1"/>
          <p:nvPr/>
        </p:nvSpPr>
        <p:spPr>
          <a:xfrm>
            <a:off x="2961968" y="2425854"/>
            <a:ext cx="6096000" cy="295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The </a:t>
            </a:r>
            <a:r>
              <a:rPr lang="en-US" b="1" dirty="0"/>
              <a:t>Product &amp; Inventory Management module</a:t>
            </a:r>
            <a:r>
              <a:rPr lang="en-US" dirty="0"/>
              <a:t> is the </a:t>
            </a:r>
            <a:r>
              <a:rPr lang="en-US" b="1" dirty="0"/>
              <a:t>core module</a:t>
            </a:r>
            <a:r>
              <a:rPr lang="en-US" dirty="0"/>
              <a:t> of IIMS.</a:t>
            </a:r>
            <a:br>
              <a:rPr lang="en-US" dirty="0"/>
            </a:br>
            <a:r>
              <a:rPr lang="en-US" dirty="0"/>
              <a:t>It is responsible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Managing products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Tracking stock levels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Controlling inventory movement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Ensuring accurate availability of items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550BE-EA4C-EE58-3603-71A248370192}"/>
              </a:ext>
            </a:extLst>
          </p:cNvPr>
          <p:cNvSpPr txBox="1"/>
          <p:nvPr/>
        </p:nvSpPr>
        <p:spPr>
          <a:xfrm>
            <a:off x="1582993" y="728887"/>
            <a:ext cx="73840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MODULE 2 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US" sz="2800" dirty="0">
                <a:solidFill>
                  <a:srgbClr val="0070C0"/>
                </a:solidFill>
              </a:rPr>
              <a:t>PRODUCT AND INVENTORY MANAGEMENT </a:t>
            </a:r>
            <a:endParaRPr lang="en-IN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00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A81CD-41B5-9A7C-365E-4B61CAAA5A34}"/>
              </a:ext>
            </a:extLst>
          </p:cNvPr>
          <p:cNvSpPr txBox="1"/>
          <p:nvPr/>
        </p:nvSpPr>
        <p:spPr>
          <a:xfrm>
            <a:off x="845575" y="396891"/>
            <a:ext cx="6096000" cy="25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Problems in Existing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Manual product entry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real-time stock visibility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Stockouts and overstock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expiry tracking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centralized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D2E0B6-7BAE-285B-4FA8-6DD305961966}"/>
              </a:ext>
            </a:extLst>
          </p:cNvPr>
          <p:cNvSpPr txBox="1"/>
          <p:nvPr/>
        </p:nvSpPr>
        <p:spPr>
          <a:xfrm>
            <a:off x="5555227" y="3968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Centralized Product Management</a:t>
            </a:r>
          </a:p>
          <a:p>
            <a:pPr>
              <a:buNone/>
            </a:pPr>
            <a:r>
              <a:rPr lang="en-US" dirty="0"/>
              <a:t>Stores complete product details in one place: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E2614-E3C0-323C-9353-D104C331FCF1}"/>
              </a:ext>
            </a:extLst>
          </p:cNvPr>
          <p:cNvSpPr txBox="1"/>
          <p:nvPr/>
        </p:nvSpPr>
        <p:spPr>
          <a:xfrm>
            <a:off x="5584723" y="122434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Real-Time Inventory Tracking</a:t>
            </a:r>
          </a:p>
          <a:p>
            <a:pPr>
              <a:buNone/>
            </a:pPr>
            <a:r>
              <a:rPr lang="en-US" dirty="0"/>
              <a:t>Automatically updates stock when: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301CF-4341-8D23-623D-B8237EF1EDB7}"/>
              </a:ext>
            </a:extLst>
          </p:cNvPr>
          <p:cNvSpPr txBox="1"/>
          <p:nvPr/>
        </p:nvSpPr>
        <p:spPr>
          <a:xfrm>
            <a:off x="5584723" y="20925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Prevents Stock-Out Situations</a:t>
            </a:r>
          </a:p>
          <a:p>
            <a:pPr>
              <a:buNone/>
            </a:pPr>
            <a:r>
              <a:rPr lang="en-US" dirty="0"/>
              <a:t>Monitors minimum stock level.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195DF-8B99-63B7-A588-A4DF2F3E08E0}"/>
              </a:ext>
            </a:extLst>
          </p:cNvPr>
          <p:cNvSpPr txBox="1"/>
          <p:nvPr/>
        </p:nvSpPr>
        <p:spPr>
          <a:xfrm>
            <a:off x="5584723" y="29684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Avoids Overstocking &amp; Wastage</a:t>
            </a:r>
          </a:p>
          <a:p>
            <a:pPr>
              <a:buNone/>
            </a:pPr>
            <a:r>
              <a:rPr lang="en-US" dirty="0"/>
              <a:t>Tracks slow-moving items and expiry dates.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CF4F6-42D8-8B42-D309-A415405B02D2}"/>
              </a:ext>
            </a:extLst>
          </p:cNvPr>
          <p:cNvSpPr txBox="1"/>
          <p:nvPr/>
        </p:nvSpPr>
        <p:spPr>
          <a:xfrm>
            <a:off x="5584723" y="37959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Improves Accuracy &amp; Reduces Human Errors</a:t>
            </a:r>
          </a:p>
          <a:p>
            <a:pPr>
              <a:buNone/>
            </a:pPr>
            <a:r>
              <a:rPr lang="en-US" dirty="0"/>
              <a:t>Uses automation and barcode scanning.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85A7C-4C00-7581-67EF-41571012244B}"/>
              </a:ext>
            </a:extLst>
          </p:cNvPr>
          <p:cNvSpPr txBox="1"/>
          <p:nvPr/>
        </p:nvSpPr>
        <p:spPr>
          <a:xfrm>
            <a:off x="5584723" y="46233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7. Improves Business Efficiency</a:t>
            </a:r>
          </a:p>
          <a:p>
            <a:pPr>
              <a:buNone/>
            </a:pPr>
            <a:r>
              <a:rPr lang="en-US" dirty="0"/>
              <a:t>Reduces manual work and saves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8E807D-F9EB-CA7F-7E74-7D78C15C9E74}"/>
              </a:ext>
            </a:extLst>
          </p:cNvPr>
          <p:cNvSpPr txBox="1"/>
          <p:nvPr/>
        </p:nvSpPr>
        <p:spPr>
          <a:xfrm>
            <a:off x="5594556" y="5480862"/>
            <a:ext cx="60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These are the problems solving with this system 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3972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F0B629-A6E7-E925-5708-B31FD9EEFE2F}"/>
              </a:ext>
            </a:extLst>
          </p:cNvPr>
          <p:cNvSpPr txBox="1"/>
          <p:nvPr/>
        </p:nvSpPr>
        <p:spPr>
          <a:xfrm>
            <a:off x="904567" y="193706"/>
            <a:ext cx="11110451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Product Class (Entity)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What is Product Entity?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Product class represents a real product in the system and maps directly to the Product table in the database.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Stores product data in structured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Acts as a bridge between Java objects and database records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F6165-C11F-177E-3D87-17700451F185}"/>
              </a:ext>
            </a:extLst>
          </p:cNvPr>
          <p:cNvSpPr txBox="1"/>
          <p:nvPr/>
        </p:nvSpPr>
        <p:spPr>
          <a:xfrm>
            <a:off x="2359740" y="2743200"/>
            <a:ext cx="8200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“Product Entity does not contain logic. It only holds data.”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5350E-8AC7-0B05-1C0F-04942973714F}"/>
              </a:ext>
            </a:extLst>
          </p:cNvPr>
          <p:cNvSpPr txBox="1"/>
          <p:nvPr/>
        </p:nvSpPr>
        <p:spPr>
          <a:xfrm>
            <a:off x="1681316" y="3429000"/>
            <a:ext cx="60960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CLASS Product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</a:t>
            </a:r>
            <a:r>
              <a:rPr lang="en-IN" sz="1600" u="sng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productId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</a:t>
            </a:r>
            <a:r>
              <a:rPr lang="en-IN" sz="1600" u="sng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sku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name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category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supplier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</a:t>
            </a:r>
            <a:r>
              <a:rPr lang="en-IN" sz="1600" u="sng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unitPrice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</a:t>
            </a:r>
            <a:r>
              <a:rPr lang="en-IN" sz="1600" u="sng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stockQuantity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END CLASS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78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CD56EA-B1A7-9163-1720-7D3A08E810CF}"/>
              </a:ext>
            </a:extLst>
          </p:cNvPr>
          <p:cNvSpPr txBox="1"/>
          <p:nvPr/>
        </p:nvSpPr>
        <p:spPr>
          <a:xfrm>
            <a:off x="550607" y="126233"/>
            <a:ext cx="8396748" cy="627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 err="1"/>
              <a:t>ProductController</a:t>
            </a:r>
            <a:r>
              <a:rPr lang="en-US" b="1" dirty="0"/>
              <a:t> Class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What is </a:t>
            </a:r>
            <a:r>
              <a:rPr lang="en-US" b="1" dirty="0" err="1"/>
              <a:t>ProductController</a:t>
            </a:r>
            <a:r>
              <a:rPr lang="en-US" b="1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 err="1"/>
              <a:t>ProductController</a:t>
            </a:r>
            <a:r>
              <a:rPr lang="en-US" dirty="0"/>
              <a:t> is the </a:t>
            </a:r>
            <a:r>
              <a:rPr lang="en-US" b="1" dirty="0"/>
              <a:t>entry point</a:t>
            </a:r>
            <a:r>
              <a:rPr lang="en-US" dirty="0"/>
              <a:t> of the Product module.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It receives: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requests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API calls from frontend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 Purpose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Handles incoming requests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Validates input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Sends response back to UI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 What It Does  -&gt; </a:t>
            </a:r>
            <a:r>
              <a:rPr lang="en-US" dirty="0"/>
              <a:t>Receives request like: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product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Update product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Delete product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Forwards request to </a:t>
            </a:r>
            <a:r>
              <a:rPr lang="en-US" dirty="0" err="1"/>
              <a:t>ProductService</a:t>
            </a:r>
            <a:r>
              <a:rPr lang="en-US" dirty="0"/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7118D-24CA-0103-B12E-25CACCB0ABA8}"/>
              </a:ext>
            </a:extLst>
          </p:cNvPr>
          <p:cNvSpPr txBox="1"/>
          <p:nvPr/>
        </p:nvSpPr>
        <p:spPr>
          <a:xfrm>
            <a:off x="5545393" y="253887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sz="2400" b="1" dirty="0"/>
              <a:t>Controller does not talk to database directly.”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8482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FF4305-F6F0-0547-AA5D-DE6346C8D5C3}"/>
              </a:ext>
            </a:extLst>
          </p:cNvPr>
          <p:cNvSpPr txBox="1"/>
          <p:nvPr/>
        </p:nvSpPr>
        <p:spPr>
          <a:xfrm>
            <a:off x="373625" y="78658"/>
            <a:ext cx="9232490" cy="627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 </a:t>
            </a:r>
            <a:r>
              <a:rPr lang="en-US" b="1" dirty="0" err="1"/>
              <a:t>ProductService</a:t>
            </a:r>
            <a:r>
              <a:rPr lang="en-US" b="1" dirty="0"/>
              <a:t> class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</a:t>
            </a:r>
            <a:r>
              <a:rPr lang="en-US" b="1" dirty="0" err="1"/>
              <a:t>ProductService</a:t>
            </a:r>
            <a:r>
              <a:rPr lang="en-US" b="1" dirty="0"/>
              <a:t> contains the business logic of the Product module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 Purpose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Apply rules and validations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Process data before saving or fetching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Decide what should happen in the system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Examples of Business Logic (Conceptual)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 if product already exists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quantity and price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Decide reorder threshold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Handle expiry checks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 Who Calls </a:t>
            </a:r>
            <a:r>
              <a:rPr lang="en-US" b="1" dirty="0" err="1"/>
              <a:t>ProductService</a:t>
            </a:r>
            <a:r>
              <a:rPr lang="en-US" b="1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ProductController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Whom Does It Call?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ProductRepository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40B8B-9508-7C0F-BBCB-9217E3FD9340}"/>
              </a:ext>
            </a:extLst>
          </p:cNvPr>
          <p:cNvSpPr txBox="1"/>
          <p:nvPr/>
        </p:nvSpPr>
        <p:spPr>
          <a:xfrm>
            <a:off x="4572000" y="3856914"/>
            <a:ext cx="6764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“Service layer acts as the brain of the application.”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57081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68FC86-3596-FD0C-D633-EFDA4EAFB924}"/>
              </a:ext>
            </a:extLst>
          </p:cNvPr>
          <p:cNvSpPr txBox="1"/>
          <p:nvPr/>
        </p:nvSpPr>
        <p:spPr>
          <a:xfrm>
            <a:off x="589935" y="219157"/>
            <a:ext cx="6096000" cy="461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 err="1"/>
              <a:t>ProductRepository</a:t>
            </a:r>
            <a:r>
              <a:rPr lang="en-IN" b="1" dirty="0"/>
              <a:t> Class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 err="1"/>
              <a:t>ProductRepository</a:t>
            </a:r>
            <a:r>
              <a:rPr lang="en-IN" dirty="0"/>
              <a:t> handles </a:t>
            </a:r>
            <a:r>
              <a:rPr lang="en-IN" b="1" dirty="0"/>
              <a:t>all database interactions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Purpose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Save product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Retrieve product records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Update stock quantity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Delete product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Who Calls </a:t>
            </a:r>
            <a:r>
              <a:rPr lang="en-IN" b="1" dirty="0" err="1"/>
              <a:t>ProductRepository</a:t>
            </a:r>
            <a:r>
              <a:rPr lang="en-IN" b="1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ProductService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Whom Does It Call?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3D7D9-BDDC-926A-D1E8-8B72470B9835}"/>
              </a:ext>
            </a:extLst>
          </p:cNvPr>
          <p:cNvSpPr txBox="1"/>
          <p:nvPr/>
        </p:nvSpPr>
        <p:spPr>
          <a:xfrm>
            <a:off x="4493342" y="2931312"/>
            <a:ext cx="74823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sz="2400" b="1" dirty="0"/>
              <a:t>Repository contains no business logic, only database operations.”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7284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0E4F9C-A9F7-24A8-F9B5-C02C60C08B7D}"/>
              </a:ext>
            </a:extLst>
          </p:cNvPr>
          <p:cNvSpPr txBox="1"/>
          <p:nvPr/>
        </p:nvSpPr>
        <p:spPr>
          <a:xfrm>
            <a:off x="4129547" y="1027750"/>
            <a:ext cx="6096000" cy="4992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Frontend (UI / API Request)</a:t>
            </a:r>
          </a:p>
          <a:p>
            <a:pPr>
              <a:lnSpc>
                <a:spcPct val="20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200000"/>
              </a:lnSpc>
            </a:pPr>
            <a:r>
              <a:rPr lang="en-IN" dirty="0" err="1"/>
              <a:t>ProductController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200000"/>
              </a:lnSpc>
            </a:pPr>
            <a:r>
              <a:rPr lang="en-IN" dirty="0" err="1"/>
              <a:t>ProductService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200000"/>
              </a:lnSpc>
            </a:pPr>
            <a:r>
              <a:rPr lang="en-IN" dirty="0" err="1"/>
              <a:t>ProductRepository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200000"/>
              </a:lnSpc>
            </a:pPr>
            <a:r>
              <a:rPr lang="en-IN" dirty="0"/>
              <a:t>Database (Product Table)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F0F6B-4B64-864F-8DCA-683E46B03693}"/>
              </a:ext>
            </a:extLst>
          </p:cNvPr>
          <p:cNvSpPr txBox="1"/>
          <p:nvPr/>
        </p:nvSpPr>
        <p:spPr>
          <a:xfrm>
            <a:off x="4375354" y="222113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Flow diagram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28619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435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 Karthikeya</dc:creator>
  <cp:lastModifiedBy>sasank ega</cp:lastModifiedBy>
  <cp:revision>2</cp:revision>
  <dcterms:created xsi:type="dcterms:W3CDTF">2026-02-04T17:12:28Z</dcterms:created>
  <dcterms:modified xsi:type="dcterms:W3CDTF">2026-03-03T13:03:37Z</dcterms:modified>
</cp:coreProperties>
</file>